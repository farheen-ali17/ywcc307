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Lexend Dec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Deca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LexendDeca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bc98855ff3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bc98855f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081b9145a1_0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081b9145a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081b9145a1_0_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081b9145a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081b9145a1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081b9145a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081b9145a1_0_7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081b9145a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081b9145a1_0_9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081b9145a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081b9145a1_0_8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081b9145a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81b9145a1_0_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081b9145a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081b9145a1_0_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081b9145a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081b9145a1_0_1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081b9145a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081b9145a1_0_1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081b9145a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081b9145a1_0_1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081b9145a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5"/>
            <a:ext cx="914395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1991825"/>
            <a:ext cx="45390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42525" y="42525"/>
            <a:ext cx="2000100" cy="2000100"/>
          </a:xfrm>
          <a:prstGeom prst="ellipse">
            <a:avLst/>
          </a:prstGeom>
          <a:gradFill>
            <a:gsLst>
              <a:gs pos="0">
                <a:srgbClr val="00FFFF">
                  <a:alpha val="54117"/>
                </a:srgbClr>
              </a:gs>
              <a:gs pos="73000">
                <a:srgbClr val="00FFFF">
                  <a:alpha val="0"/>
                </a:srgbClr>
              </a:gs>
              <a:gs pos="100000">
                <a:srgbClr val="00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343850" y="866400"/>
            <a:ext cx="4185600" cy="36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Lexend Deca"/>
              <a:buChar char="⬡"/>
              <a:defRPr sz="3000">
                <a:latin typeface="Lexend Deca"/>
                <a:ea typeface="Lexend Deca"/>
                <a:cs typeface="Lexend Deca"/>
                <a:sym typeface="Lexend Deca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8pPr>
            <a:lvl9pPr indent="-419100" lvl="8" marL="411480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20" name="Google Shape;20;p4"/>
          <p:cNvSpPr txBox="1"/>
          <p:nvPr/>
        </p:nvSpPr>
        <p:spPr>
          <a:xfrm>
            <a:off x="826414" y="656117"/>
            <a:ext cx="6138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“</a:t>
            </a:r>
            <a:endParaRPr sz="72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⬡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580550" y="1352550"/>
            <a:ext cx="2841000" cy="31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3753943" y="1352550"/>
            <a:ext cx="2841000" cy="31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/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580550" y="1352550"/>
            <a:ext cx="2005800" cy="32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2780447" y="1352550"/>
            <a:ext cx="2005800" cy="32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p7"/>
          <p:cNvSpPr txBox="1"/>
          <p:nvPr>
            <p:ph idx="3" type="body"/>
          </p:nvPr>
        </p:nvSpPr>
        <p:spPr>
          <a:xfrm>
            <a:off x="4980344" y="1352550"/>
            <a:ext cx="2005800" cy="32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/>
          <p:nvPr>
            <p:ph idx="1" type="body"/>
          </p:nvPr>
        </p:nvSpPr>
        <p:spPr>
          <a:xfrm>
            <a:off x="580550" y="4406300"/>
            <a:ext cx="61359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· Small circuit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· Big circuit">
  <p:cSld name="BLANK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b="1" sz="32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indent="-3810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indent="-3810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indent="-3810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indent="-3810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indent="-3810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indent="-3810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indent="-3810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indent="-3810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comparitech.com/blog/information-security/password-statistics/" TargetMode="External"/><Relationship Id="rId4" Type="http://schemas.openxmlformats.org/officeDocument/2006/relationships/hyperlink" Target="https://financesonline.com/password-statistics/" TargetMode="External"/><Relationship Id="rId11" Type="http://schemas.openxmlformats.org/officeDocument/2006/relationships/hyperlink" Target="https://onestopdataanalysis.com/shannon-entropy/" TargetMode="External"/><Relationship Id="rId10" Type="http://schemas.openxmlformats.org/officeDocument/2006/relationships/hyperlink" Target="https://www.okta.com/identity-101/password-entropy/" TargetMode="External"/><Relationship Id="rId9" Type="http://schemas.openxmlformats.org/officeDocument/2006/relationships/hyperlink" Target="https://medium.com/asecuritysite-when-bob-met-alice/how-guessable-is-your-password-f0deeb69f985" TargetMode="External"/><Relationship Id="rId5" Type="http://schemas.openxmlformats.org/officeDocument/2006/relationships/hyperlink" Target="https://www.incognia.com/the-authentication-reference/what-makes-a-password-weak" TargetMode="External"/><Relationship Id="rId6" Type="http://schemas.openxmlformats.org/officeDocument/2006/relationships/hyperlink" Target="https://seniorplanet.org/strong-passwords/" TargetMode="External"/><Relationship Id="rId7" Type="http://schemas.openxmlformats.org/officeDocument/2006/relationships/hyperlink" Target="https://time.com/15908/best-password/" TargetMode="External"/><Relationship Id="rId8" Type="http://schemas.openxmlformats.org/officeDocument/2006/relationships/hyperlink" Target="https://avelient.co/blog/how-to-make-strong-passwords-you-can-rememb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685800" y="1486875"/>
            <a:ext cx="45390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Password Guessability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475" y="1050906"/>
            <a:ext cx="1782850" cy="20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814" y="378324"/>
            <a:ext cx="662500" cy="7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3770" y="884611"/>
            <a:ext cx="482075" cy="5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1692" y="4034576"/>
            <a:ext cx="586165" cy="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04399" y="3624439"/>
            <a:ext cx="321850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64593" y="3757882"/>
            <a:ext cx="321850" cy="4484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855000" y="3326975"/>
            <a:ext cx="3654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By: Farheen Ali</a:t>
            </a:r>
            <a:endParaRPr sz="17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ctrTitle"/>
          </p:nvPr>
        </p:nvSpPr>
        <p:spPr>
          <a:xfrm>
            <a:off x="692225" y="1480350"/>
            <a:ext cx="4263900" cy="21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use the same/similar password for multiple logins?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3976" y="1373675"/>
            <a:ext cx="1519400" cy="17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138" y="891175"/>
            <a:ext cx="7051724" cy="336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⬡"/>
            </a:pPr>
            <a:r>
              <a:rPr lang="en" sz="2000"/>
              <a:t>Most common passwords</a:t>
            </a:r>
            <a:endParaRPr sz="2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12345, Password, qwerty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⬡"/>
            </a:pPr>
            <a:r>
              <a:rPr lang="en" sz="1800"/>
              <a:t>Statistics: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80% of hacking incidents caused by stolen login info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27% have tried to guess a user’s password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17% of hackers have successfully guessed other’s password</a:t>
            </a:r>
            <a:endParaRPr sz="1800"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580550" y="1352550"/>
            <a:ext cx="3722700" cy="31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Muli"/>
                <a:ea typeface="Muli"/>
                <a:cs typeface="Muli"/>
                <a:sym typeface="Muli"/>
              </a:rPr>
              <a:t>Strong Password:</a:t>
            </a:r>
            <a:endParaRPr b="1">
              <a:latin typeface="Muli"/>
              <a:ea typeface="Muli"/>
              <a:cs typeface="Muli"/>
              <a:sym typeface="Muli"/>
            </a:endParaRPr>
          </a:p>
          <a:p>
            <a:pPr indent="-349250" lvl="0" marL="457200" rtl="0" algn="l">
              <a:spcBef>
                <a:spcPts val="600"/>
              </a:spcBef>
              <a:spcAft>
                <a:spcPts val="0"/>
              </a:spcAft>
              <a:buSzPts val="1900"/>
              <a:buChar char="⬡"/>
            </a:pPr>
            <a:r>
              <a:rPr b="1" lang="en" sz="1900"/>
              <a:t>Mix of upper and lower case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⬡"/>
            </a:pPr>
            <a:r>
              <a:rPr b="1" lang="en" sz="1900"/>
              <a:t>Special characters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⬡"/>
            </a:pPr>
            <a:r>
              <a:rPr b="1" lang="en" sz="1900"/>
              <a:t>Numbers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⬡"/>
            </a:pPr>
            <a:r>
              <a:rPr b="1" lang="en" sz="1900"/>
              <a:t>No personal information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⬡"/>
            </a:pPr>
            <a:r>
              <a:rPr b="1" lang="en" sz="1900"/>
              <a:t>No dictionary words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⬡"/>
            </a:pPr>
            <a:r>
              <a:rPr b="1" lang="en" sz="1900"/>
              <a:t>Change passwords regularly </a:t>
            </a:r>
            <a:endParaRPr b="1" sz="1900"/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580550" y="205975"/>
            <a:ext cx="8372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Passwords vs Bad Passwords</a:t>
            </a:r>
            <a:endParaRPr/>
          </a:p>
        </p:txBody>
      </p:sp>
      <p:sp>
        <p:nvSpPr>
          <p:cNvPr id="93" name="Google Shape;93;p17"/>
          <p:cNvSpPr txBox="1"/>
          <p:nvPr>
            <p:ph idx="2" type="body"/>
          </p:nvPr>
        </p:nvSpPr>
        <p:spPr>
          <a:xfrm>
            <a:off x="4787175" y="1352550"/>
            <a:ext cx="4113900" cy="31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Muli"/>
                <a:ea typeface="Muli"/>
                <a:cs typeface="Muli"/>
                <a:sym typeface="Muli"/>
              </a:rPr>
              <a:t>Weak Password:</a:t>
            </a:r>
            <a:endParaRPr b="1">
              <a:latin typeface="Muli"/>
              <a:ea typeface="Muli"/>
              <a:cs typeface="Muli"/>
              <a:sym typeface="Muli"/>
            </a:endParaRPr>
          </a:p>
          <a:p>
            <a:pPr indent="-349250" lvl="0" marL="457200" rtl="0" algn="l">
              <a:spcBef>
                <a:spcPts val="600"/>
              </a:spcBef>
              <a:spcAft>
                <a:spcPts val="0"/>
              </a:spcAft>
              <a:buSzPts val="1900"/>
              <a:buChar char="⬡"/>
            </a:pPr>
            <a:r>
              <a:rPr b="1" lang="en" sz="1900"/>
              <a:t>Don’t </a:t>
            </a:r>
            <a:r>
              <a:rPr b="1" lang="en" sz="1900"/>
              <a:t>reuse</a:t>
            </a:r>
            <a:r>
              <a:rPr b="1" lang="en" sz="1900"/>
              <a:t> </a:t>
            </a:r>
            <a:r>
              <a:rPr b="1" lang="en" sz="1900"/>
              <a:t>passwords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⬡"/>
            </a:pPr>
            <a:r>
              <a:rPr b="1" lang="en" sz="1900"/>
              <a:t>Don’t write passwords anywhere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⬡"/>
            </a:pPr>
            <a:r>
              <a:rPr b="1" lang="en" sz="1900"/>
              <a:t>Don’t share passwords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⬡"/>
            </a:pPr>
            <a:r>
              <a:rPr b="1" lang="en" sz="1900"/>
              <a:t>&lt; 8 characters 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⬡"/>
            </a:pPr>
            <a:r>
              <a:rPr b="1" lang="en" sz="1900"/>
              <a:t>Keyboard patterns*</a:t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⬡"/>
            </a:pPr>
            <a:r>
              <a:rPr b="1" lang="en" sz="1900"/>
              <a:t>Repeat characters </a:t>
            </a:r>
            <a:endParaRPr b="1" sz="1900"/>
          </a:p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 Password Examples</a:t>
            </a:r>
            <a:endParaRPr/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888" y="1265712"/>
            <a:ext cx="4724214" cy="1218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7163" y="2635100"/>
            <a:ext cx="4949671" cy="23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Password Examples</a:t>
            </a:r>
            <a:endParaRPr/>
          </a:p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851" y="1395475"/>
            <a:ext cx="5340301" cy="33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ctrTitle"/>
          </p:nvPr>
        </p:nvSpPr>
        <p:spPr>
          <a:xfrm>
            <a:off x="730950" y="1983900"/>
            <a:ext cx="4263900" cy="117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 Measurements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3976" y="1373675"/>
            <a:ext cx="1519400" cy="17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 Measurement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⬡"/>
            </a:pPr>
            <a:r>
              <a:rPr lang="en"/>
              <a:t>Used to warn users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⬡"/>
            </a:pPr>
            <a:r>
              <a:rPr lang="en"/>
              <a:t>4 factors of a password: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Length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Variety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Randomness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Uniqueness</a:t>
            </a:r>
            <a:endParaRPr/>
          </a:p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Shannon Entropy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580550" y="2552050"/>
            <a:ext cx="7899900" cy="24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⬡"/>
            </a:pPr>
            <a:r>
              <a:rPr b="1" lang="en" sz="2000">
                <a:latin typeface="Muli"/>
                <a:ea typeface="Muli"/>
                <a:cs typeface="Muli"/>
                <a:sym typeface="Muli"/>
              </a:rPr>
              <a:t>Use:</a:t>
            </a:r>
            <a:r>
              <a:rPr lang="en" sz="2000"/>
              <a:t> a measurement of unpredictable a password is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uli"/>
              <a:buChar char="⬡"/>
            </a:pPr>
            <a:r>
              <a:rPr b="1" lang="en" sz="2000">
                <a:latin typeface="Muli"/>
                <a:ea typeface="Muli"/>
                <a:cs typeface="Muli"/>
                <a:sym typeface="Muli"/>
              </a:rPr>
              <a:t>Example:</a:t>
            </a:r>
            <a:endParaRPr b="1" sz="2000">
              <a:latin typeface="Muli"/>
              <a:ea typeface="Muli"/>
              <a:cs typeface="Muli"/>
              <a:sym typeface="Mul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“password”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log2(26) = 4.7 bits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4.7 * 8 = 37.6 bits</a:t>
            </a:r>
            <a:endParaRPr sz="2000"/>
          </a:p>
        </p:txBody>
      </p:sp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1300" y="1383650"/>
            <a:ext cx="3961400" cy="9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Guessing Entropy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580550" y="2814375"/>
            <a:ext cx="7899900" cy="17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⬡"/>
            </a:pPr>
            <a:r>
              <a:rPr b="1" lang="en" sz="2000">
                <a:latin typeface="Muli"/>
                <a:ea typeface="Muli"/>
                <a:cs typeface="Muli"/>
                <a:sym typeface="Muli"/>
              </a:rPr>
              <a:t>Use:</a:t>
            </a:r>
            <a:r>
              <a:rPr lang="en" sz="2000"/>
              <a:t> Measures the difficulty to guess the passwords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⬡"/>
            </a:pPr>
            <a:r>
              <a:rPr lang="en" sz="2000"/>
              <a:t>The expected number of guesses an attacker need in order to guess the password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⬡"/>
            </a:pPr>
            <a:r>
              <a:rPr lang="en" sz="2000"/>
              <a:t>Based on average size of passwords </a:t>
            </a:r>
            <a:endParaRPr sz="2000"/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200" y="1357850"/>
            <a:ext cx="2133600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Minimum Entropy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580550" y="2603725"/>
            <a:ext cx="7899900" cy="19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⬡"/>
            </a:pPr>
            <a:r>
              <a:rPr b="1" lang="en" sz="2000">
                <a:latin typeface="Muli"/>
                <a:ea typeface="Muli"/>
                <a:cs typeface="Muli"/>
                <a:sym typeface="Muli"/>
              </a:rPr>
              <a:t>Use:</a:t>
            </a:r>
            <a:r>
              <a:rPr lang="en" sz="2000"/>
              <a:t> a way to estimate the strength of the </a:t>
            </a:r>
            <a:r>
              <a:rPr lang="en" sz="2000"/>
              <a:t>password</a:t>
            </a:r>
            <a:r>
              <a:rPr lang="en" sz="2000"/>
              <a:t>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uli"/>
              <a:buChar char="⬡"/>
            </a:pPr>
            <a:r>
              <a:rPr b="1" lang="en" sz="2000">
                <a:latin typeface="Muli"/>
                <a:ea typeface="Muli"/>
                <a:cs typeface="Muli"/>
                <a:sym typeface="Muli"/>
              </a:rPr>
              <a:t>Relationship:</a:t>
            </a:r>
            <a:endParaRPr b="1" sz="2000">
              <a:latin typeface="Muli"/>
              <a:ea typeface="Muli"/>
              <a:cs typeface="Muli"/>
              <a:sym typeface="Mul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Low strength password pb → low minimum entropy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⬡"/>
            </a:pPr>
            <a:r>
              <a:rPr lang="en" sz="2000"/>
              <a:t>Based on heuristics </a:t>
            </a:r>
            <a:endParaRPr sz="2000"/>
          </a:p>
        </p:txBody>
      </p:sp>
      <p:sp>
        <p:nvSpPr>
          <p:cNvPr id="145" name="Google Shape;145;p2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9950" y="1306175"/>
            <a:ext cx="4264100" cy="97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ctrTitle"/>
          </p:nvPr>
        </p:nvSpPr>
        <p:spPr>
          <a:xfrm>
            <a:off x="614750" y="2119500"/>
            <a:ext cx="4263900" cy="904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THANK YOU!</a:t>
            </a:r>
            <a:endParaRPr sz="5000"/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3976" y="1373675"/>
            <a:ext cx="1519400" cy="17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3"/>
              </a:rPr>
              <a:t>https://www.comparitech.com/blog/information-security/password-statistics/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4"/>
              </a:rPr>
              <a:t>https://financesonline.com/password-statistics/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5"/>
              </a:rPr>
              <a:t>https://www.incognia.com/the-authentication-reference/what-makes-a-password-weak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6"/>
              </a:rPr>
              <a:t>https://seniorplanet.org/strong-passwords/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7"/>
              </a:rPr>
              <a:t>https://time.com/15908/best-password/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8"/>
              </a:rPr>
              <a:t>https://avelient.co/blog/how-to-make-strong-passwords-you-can-remember/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9"/>
              </a:rPr>
              <a:t>https://medium.com/asecuritysite-when-bob-met-alice/how-guessable-is-your-password-f0deeb69f985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10"/>
              </a:rPr>
              <a:t>https://www.okta.com/identity-101/password-entropy/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latin typeface="Arial"/>
                <a:ea typeface="Arial"/>
                <a:cs typeface="Arial"/>
                <a:sym typeface="Arial"/>
                <a:hlinkClick r:id="rId11"/>
              </a:rPr>
              <a:t>https://onestopdataanalysis.com/shannon-entropy/</a:t>
            </a:r>
            <a:endParaRPr/>
          </a:p>
        </p:txBody>
      </p:sp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